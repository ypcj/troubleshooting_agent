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1994" r:id="rId3"/>
    <p:sldId id="1995" r:id="rId5"/>
    <p:sldId id="1996" r:id="rId6"/>
    <p:sldId id="1998" r:id="rId7"/>
    <p:sldId id="1999" r:id="rId8"/>
    <p:sldId id="2000" r:id="rId9"/>
    <p:sldId id="2001" r:id="rId10"/>
    <p:sldId id="2002" r:id="rId11"/>
    <p:sldId id="2003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9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单星保活中断排查步骤</a:t>
            </a:r>
            <a:endParaRPr lang="zh-CN" sz="22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-2147482607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1523365"/>
            <a:ext cx="11040745" cy="50139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95020" y="697865"/>
            <a:ext cx="10798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通过天基承载网管理分系统</a:t>
            </a:r>
            <a:r>
              <a:rPr lang="en-US" altLang="zh-CN"/>
              <a:t>-</a:t>
            </a:r>
            <a:r>
              <a:rPr lang="zh-CN" altLang="en-US"/>
              <a:t>统计管理</a:t>
            </a:r>
            <a:r>
              <a:rPr lang="en-US" altLang="zh-CN"/>
              <a:t>-</a:t>
            </a:r>
            <a:r>
              <a:rPr lang="zh-CN" altLang="en-US"/>
              <a:t>服务时长统计</a:t>
            </a:r>
            <a:r>
              <a:rPr lang="zh-CN" altLang="en-US">
                <a:sym typeface="+mn-ea"/>
              </a:rPr>
              <a:t>模块</a:t>
            </a:r>
            <a:r>
              <a:rPr lang="zh-CN" altLang="en-US"/>
              <a:t>查询各星座的服务时长情况，排查出其中单星保活中断的情况，其中蓝色为保活正常时间段，黄色为保活中断时间段。</a:t>
            </a:r>
            <a:endParaRPr lang="zh-CN" altLang="en-US"/>
          </a:p>
        </p:txBody>
      </p:sp>
      <p:pic>
        <p:nvPicPr>
          <p:cNvPr id="-2147482610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2966085"/>
            <a:ext cx="9279255" cy="33566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一、确定单星保活中断时间</a:t>
            </a:r>
            <a:endParaRPr lang="zh-CN" sz="22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697865"/>
            <a:ext cx="10798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/>
              <a:t>如图为</a:t>
            </a:r>
            <a:r>
              <a:rPr lang="en-US" altLang="zh-CN"/>
              <a:t>A35</a:t>
            </a:r>
            <a:r>
              <a:rPr lang="zh-CN" altLang="en-US"/>
              <a:t>在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7</a:t>
            </a:r>
            <a:r>
              <a:rPr lang="zh-CN" altLang="en-US"/>
              <a:t>月</a:t>
            </a:r>
            <a:r>
              <a:rPr lang="en-US" altLang="zh-CN"/>
              <a:t>19</a:t>
            </a:r>
            <a:r>
              <a:rPr lang="zh-CN" altLang="en-US"/>
              <a:t>日</a:t>
            </a:r>
            <a:r>
              <a:rPr lang="en-US" altLang="zh-CN"/>
              <a:t>03:20:00-04:11:30</a:t>
            </a:r>
            <a:r>
              <a:rPr lang="zh-CN" altLang="en-US"/>
              <a:t>跨星保活中断</a:t>
            </a:r>
            <a:r>
              <a:rPr lang="en-US" altLang="zh-CN"/>
              <a:t>51</a:t>
            </a:r>
            <a:r>
              <a:rPr lang="zh-CN" altLang="en-US"/>
              <a:t>分钟</a:t>
            </a:r>
            <a:r>
              <a:rPr lang="en-US" altLang="zh-CN"/>
              <a:t>30</a:t>
            </a:r>
            <a:r>
              <a:rPr lang="zh-CN" altLang="en-US"/>
              <a:t>秒。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1903730"/>
            <a:ext cx="10465435" cy="378587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箭头连接符 4"/>
          <p:cNvCxnSpPr/>
          <p:nvPr/>
        </p:nvCxnSpPr>
        <p:spPr>
          <a:xfrm flipH="1">
            <a:off x="7172325" y="5039360"/>
            <a:ext cx="228600" cy="702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602730" y="5803265"/>
            <a:ext cx="1271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本星弧段开始时间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7673340" y="5030470"/>
            <a:ext cx="895350" cy="7289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126095" y="5803265"/>
            <a:ext cx="1271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本星弧段结束时间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一、确定单星保活中断时间</a:t>
            </a:r>
            <a:endParaRPr lang="zh-CN" sz="22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697865"/>
            <a:ext cx="10798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/>
              <a:t>在保活消息状态展示界面可以进一步验证</a:t>
            </a:r>
            <a:r>
              <a:rPr lang="en-US" altLang="zh-CN"/>
              <a:t>A35</a:t>
            </a:r>
            <a:r>
              <a:rPr lang="zh-CN" altLang="en-US"/>
              <a:t>的保活中断时间。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7172325" y="5039360"/>
            <a:ext cx="228600" cy="702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673340" y="5030470"/>
            <a:ext cx="895350" cy="7289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-214748260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140" y="1449070"/>
            <a:ext cx="9333865" cy="5215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二、查看中断期间邻居卫星的拓扑表</a:t>
            </a:r>
            <a:endParaRPr lang="zh-CN" sz="22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697865"/>
            <a:ext cx="10798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/>
              <a:t>在测量结果中查看</a:t>
            </a:r>
            <a:r>
              <a:rPr lang="en-US" altLang="zh-CN"/>
              <a:t>A35</a:t>
            </a:r>
            <a:r>
              <a:rPr lang="zh-CN" altLang="en-US"/>
              <a:t>保活中断期间邻居卫星的拓扑查询结果，结果为</a:t>
            </a:r>
            <a:r>
              <a:rPr lang="en-US" altLang="zh-CN"/>
              <a:t>A15-&gt;A35</a:t>
            </a:r>
            <a:r>
              <a:rPr lang="zh-CN" altLang="en-US"/>
              <a:t>单通。</a:t>
            </a:r>
            <a:endParaRPr lang="zh-CN" altLang="en-US"/>
          </a:p>
        </p:txBody>
      </p:sp>
      <p:pic>
        <p:nvPicPr>
          <p:cNvPr id="-2147482605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885" y="1099185"/>
            <a:ext cx="10081895" cy="5610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椭圆 3"/>
          <p:cNvSpPr/>
          <p:nvPr/>
        </p:nvSpPr>
        <p:spPr>
          <a:xfrm>
            <a:off x="5784850" y="3669665"/>
            <a:ext cx="1290955" cy="32512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三、查看中断期间邻居卫星的packetin</a:t>
            </a:r>
            <a:endParaRPr lang="zh-CN" sz="3100" b="1" dirty="0">
              <a:solidFill>
                <a:srgbClr val="003DB8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697865"/>
            <a:ext cx="10798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/>
              <a:t>在测量结果中查看</a:t>
            </a:r>
            <a:r>
              <a:rPr lang="en-US" altLang="zh-CN"/>
              <a:t>A35</a:t>
            </a:r>
            <a:r>
              <a:rPr lang="zh-CN" altLang="en-US"/>
              <a:t>保活中断期间邻居卫星的</a:t>
            </a:r>
            <a:r>
              <a:rPr lang="en-US" altLang="zh-CN"/>
              <a:t>packetin</a:t>
            </a:r>
            <a:r>
              <a:rPr lang="zh-CN" altLang="en-US"/>
              <a:t>结果，结果为</a:t>
            </a:r>
            <a:r>
              <a:rPr lang="en-US" altLang="zh-CN"/>
              <a:t>A15</a:t>
            </a:r>
            <a:r>
              <a:rPr lang="zh-CN"/>
              <a:t>在</a:t>
            </a:r>
            <a:r>
              <a:rPr lang="en-US" altLang="zh-CN"/>
              <a:t>03:20:09</a:t>
            </a:r>
            <a:r>
              <a:rPr lang="zh-CN" altLang="en-US"/>
              <a:t>上报了</a:t>
            </a:r>
            <a:r>
              <a:rPr lang="en-US" altLang="zh-CN"/>
              <a:t>A35-&gt;A15</a:t>
            </a:r>
            <a:r>
              <a:rPr lang="zh-CN" altLang="en-US"/>
              <a:t>的</a:t>
            </a:r>
            <a:r>
              <a:rPr lang="en-US" altLang="zh-CN"/>
              <a:t>linkdown</a:t>
            </a:r>
            <a:r>
              <a:rPr lang="zh-CN" altLang="en-US"/>
              <a:t>，</a:t>
            </a:r>
            <a:r>
              <a:rPr lang="en-US" altLang="zh-CN"/>
              <a:t>04:06:16</a:t>
            </a:r>
            <a:r>
              <a:rPr lang="zh-CN" altLang="en-US"/>
              <a:t>上报了</a:t>
            </a:r>
            <a:r>
              <a:rPr lang="en-US" altLang="zh-CN"/>
              <a:t>linkup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-214748260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05" y="2311400"/>
            <a:ext cx="9354185" cy="2998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1043305" y="4775835"/>
            <a:ext cx="9237345" cy="1492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43305" y="4349750"/>
            <a:ext cx="9237345" cy="1492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四、确定中断前的落地卫星</a:t>
            </a:r>
            <a:endParaRPr lang="zh-CN" sz="3100" b="1" dirty="0">
              <a:solidFill>
                <a:srgbClr val="003DB8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697865"/>
            <a:ext cx="10798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/>
              <a:t>在测量结果中查看</a:t>
            </a:r>
            <a:r>
              <a:rPr lang="en-US" altLang="zh-CN"/>
              <a:t>A35</a:t>
            </a:r>
            <a:r>
              <a:rPr lang="zh-CN" altLang="en-US"/>
              <a:t>保活中断前的落地卫星表查询结果，结果为</a:t>
            </a:r>
            <a:r>
              <a:rPr lang="en-US" altLang="zh-CN"/>
              <a:t>A35</a:t>
            </a:r>
            <a:r>
              <a:rPr lang="zh-CN"/>
              <a:t>在</a:t>
            </a:r>
            <a:r>
              <a:rPr lang="en-US" altLang="zh-CN"/>
              <a:t>03:19:08</a:t>
            </a:r>
            <a:r>
              <a:rPr lang="zh-CN"/>
              <a:t>存在</a:t>
            </a:r>
            <a:r>
              <a:rPr lang="en-US" altLang="zh-CN"/>
              <a:t>2</a:t>
            </a:r>
            <a:r>
              <a:rPr lang="zh-CN" altLang="en-US"/>
              <a:t>条落地卫星表，分别为</a:t>
            </a:r>
            <a:r>
              <a:rPr lang="en-US" altLang="zh-CN"/>
              <a:t>0x0405</a:t>
            </a:r>
            <a:r>
              <a:rPr lang="zh-CN" altLang="en-US"/>
              <a:t>（</a:t>
            </a:r>
            <a:r>
              <a:rPr lang="en-US" altLang="zh-CN"/>
              <a:t>A11</a:t>
            </a:r>
            <a:r>
              <a:rPr lang="zh-CN" altLang="en-US"/>
              <a:t>）、</a:t>
            </a:r>
            <a:r>
              <a:rPr lang="en-US" altLang="zh-CN"/>
              <a:t>0x0306</a:t>
            </a:r>
            <a:r>
              <a:rPr lang="zh-CN" altLang="en-US"/>
              <a:t>（</a:t>
            </a:r>
            <a:r>
              <a:rPr lang="en-US" altLang="zh-CN"/>
              <a:t>A22</a:t>
            </a:r>
            <a:r>
              <a:rPr lang="zh-CN" altLang="en-US"/>
              <a:t>），依据落地卫星确定原则确定</a:t>
            </a:r>
            <a:r>
              <a:rPr lang="en-US" altLang="zh-CN"/>
              <a:t>A35</a:t>
            </a:r>
            <a:r>
              <a:rPr lang="zh-CN" altLang="en-US"/>
              <a:t>中断前的落地卫星，为</a:t>
            </a:r>
            <a:r>
              <a:rPr lang="en-US" altLang="zh-CN"/>
              <a:t>A22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-2147482604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3525" y="2469515"/>
            <a:ext cx="7025640" cy="34023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五、确认卫星是否复位</a:t>
            </a:r>
            <a:r>
              <a:rPr lang="en-US" alt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/</a:t>
            </a:r>
            <a:r>
              <a:rPr lang="zh-CN" altLang="en-US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重启</a:t>
            </a:r>
            <a:r>
              <a:rPr lang="en-US" alt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/</a:t>
            </a:r>
            <a:r>
              <a:rPr lang="zh-CN" altLang="en-US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咬狗</a:t>
            </a:r>
            <a:endParaRPr lang="zh-CN" altLang="en-US" sz="3100" b="1" dirty="0">
              <a:solidFill>
                <a:srgbClr val="003DB8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697865"/>
            <a:ext cx="10798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/>
              <a:t>在运控中心系统门户</a:t>
            </a:r>
            <a:r>
              <a:rPr lang="en-US" altLang="zh-CN"/>
              <a:t>-</a:t>
            </a:r>
            <a:r>
              <a:rPr lang="zh-CN" altLang="en-US"/>
              <a:t>健康管理功能域</a:t>
            </a:r>
            <a:r>
              <a:rPr lang="en-US" altLang="zh-CN"/>
              <a:t>-</a:t>
            </a:r>
            <a:r>
              <a:rPr lang="zh-CN" altLang="en-US"/>
              <a:t>网元设备故障诊断分系统中查看卫星是否复位/重启/咬狗。</a:t>
            </a:r>
            <a:endParaRPr lang="zh-CN" altLang="en-US"/>
          </a:p>
        </p:txBody>
      </p:sp>
      <p:pic>
        <p:nvPicPr>
          <p:cNvPr id="-2147482602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075" y="2439670"/>
            <a:ext cx="8197215" cy="3485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3949700" y="3775075"/>
            <a:ext cx="1062355" cy="5003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84955" y="4358640"/>
            <a:ext cx="1940560" cy="132524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五、确认卫星是否复位</a:t>
            </a:r>
            <a:r>
              <a:rPr lang="en-US" alt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/</a:t>
            </a:r>
            <a:r>
              <a:rPr lang="zh-CN" altLang="en-US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重启</a:t>
            </a:r>
            <a:r>
              <a:rPr lang="en-US" alt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/</a:t>
            </a:r>
            <a:r>
              <a:rPr lang="zh-CN" altLang="en-US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咬狗</a:t>
            </a:r>
            <a:endParaRPr lang="zh-CN" altLang="en-US" sz="3100" b="1" dirty="0">
              <a:solidFill>
                <a:srgbClr val="003DB8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697865"/>
            <a:ext cx="10798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/>
              <a:t>在故障呈现</a:t>
            </a:r>
            <a:r>
              <a:rPr lang="en-US" altLang="zh-CN"/>
              <a:t>-</a:t>
            </a:r>
            <a:r>
              <a:rPr lang="zh-CN" altLang="en-US"/>
              <a:t>告警查询中选择对应的</a:t>
            </a:r>
            <a:r>
              <a:rPr lang="en-US" altLang="zh-CN"/>
              <a:t>XW</a:t>
            </a:r>
            <a:r>
              <a:rPr lang="zh-CN" altLang="en-US"/>
              <a:t>时、网络层级和网络类型查看故障告警信息，此处无</a:t>
            </a:r>
            <a:r>
              <a:rPr lang="en-US" altLang="zh-CN"/>
              <a:t>A35</a:t>
            </a:r>
            <a:r>
              <a:rPr lang="zh-CN" altLang="en-US"/>
              <a:t>的故障告警信息。</a:t>
            </a:r>
            <a:endParaRPr lang="zh-CN" altLang="en-US"/>
          </a:p>
        </p:txBody>
      </p:sp>
      <p:pic>
        <p:nvPicPr>
          <p:cNvPr id="-214748260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35" y="1409065"/>
            <a:ext cx="10768330" cy="53105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795020" y="2585085"/>
            <a:ext cx="1071245" cy="20193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95020" y="3752215"/>
            <a:ext cx="1071245" cy="20193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"/>
          <p:cNvSpPr>
            <a:spLocks noGrp="1"/>
          </p:cNvSpPr>
          <p:nvPr/>
        </p:nvSpPr>
        <p:spPr>
          <a:xfrm>
            <a:off x="-1" y="188"/>
            <a:ext cx="12387944" cy="697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3100" b="1" dirty="0">
                <a:solidFill>
                  <a:srgbClr val="003DB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六、结论</a:t>
            </a:r>
            <a:endParaRPr lang="zh-CN" sz="3100" b="1" dirty="0">
              <a:solidFill>
                <a:srgbClr val="003DB8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020" y="3106420"/>
            <a:ext cx="107988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en-US" altLang="zh-CN">
                <a:sym typeface="+mn-ea"/>
              </a:rPr>
              <a:t>A35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2026</a:t>
            </a:r>
            <a:r>
              <a:rPr lang="zh-CN" altLang="en-US">
                <a:sym typeface="+mn-ea"/>
              </a:rPr>
              <a:t>年</a:t>
            </a:r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月</a:t>
            </a:r>
            <a:r>
              <a:rPr lang="en-US" altLang="zh-CN">
                <a:sym typeface="+mn-ea"/>
              </a:rPr>
              <a:t>19</a:t>
            </a:r>
            <a:r>
              <a:rPr lang="zh-CN" altLang="en-US">
                <a:sym typeface="+mn-ea"/>
              </a:rPr>
              <a:t>日</a:t>
            </a:r>
            <a:r>
              <a:rPr lang="en-US" altLang="zh-CN">
                <a:sym typeface="+mn-ea"/>
              </a:rPr>
              <a:t>03:20:00-04:11:30</a:t>
            </a:r>
            <a:r>
              <a:rPr lang="zh-CN" altLang="en-US">
                <a:sym typeface="+mn-ea"/>
              </a:rPr>
              <a:t>跨星保活中断</a:t>
            </a:r>
            <a:r>
              <a:rPr lang="en-US" altLang="zh-CN">
                <a:sym typeface="+mn-ea"/>
              </a:rPr>
              <a:t>51</a:t>
            </a:r>
            <a:r>
              <a:rPr lang="zh-CN" altLang="en-US">
                <a:sym typeface="+mn-ea"/>
              </a:rPr>
              <a:t>分钟</a:t>
            </a:r>
            <a:r>
              <a:rPr lang="en-US" altLang="zh-CN">
                <a:sym typeface="+mn-ea"/>
              </a:rPr>
              <a:t>30</a:t>
            </a:r>
            <a:r>
              <a:rPr lang="zh-CN" altLang="en-US">
                <a:sym typeface="+mn-ea"/>
              </a:rPr>
              <a:t>秒</a:t>
            </a:r>
            <a:r>
              <a:rPr lang="zh-CN" altLang="en-US">
                <a:sym typeface="+mn-ea"/>
              </a:rPr>
              <a:t>，中断前落地卫星为</a:t>
            </a:r>
            <a:r>
              <a:rPr lang="en-US" altLang="zh-CN">
                <a:sym typeface="+mn-ea"/>
              </a:rPr>
              <a:t>A22</a:t>
            </a:r>
            <a:r>
              <a:rPr lang="zh-CN" altLang="en-US">
                <a:sym typeface="+mn-ea"/>
              </a:rPr>
              <a:t>，期间拓扑查询结果为</a:t>
            </a:r>
            <a:r>
              <a:rPr lang="en-US" altLang="zh-CN">
                <a:sym typeface="+mn-ea"/>
              </a:rPr>
              <a:t>A15-&gt;A35</a:t>
            </a:r>
            <a:r>
              <a:rPr lang="zh-CN" altLang="en-US">
                <a:sym typeface="+mn-ea"/>
              </a:rPr>
              <a:t>单通，且中断前后</a:t>
            </a:r>
            <a:r>
              <a:rPr lang="en-US" altLang="zh-CN">
                <a:sym typeface="+mn-ea"/>
              </a:rPr>
              <a:t>A15</a:t>
            </a:r>
            <a:r>
              <a:rPr lang="zh-CN" altLang="en-US">
                <a:sym typeface="+mn-ea"/>
              </a:rPr>
              <a:t>有上报对应链路的</a:t>
            </a:r>
            <a:r>
              <a:rPr lang="en-US" altLang="zh-CN">
                <a:sym typeface="+mn-ea"/>
              </a:rPr>
              <a:t>packetin</a:t>
            </a:r>
            <a:r>
              <a:rPr lang="zh-CN" altLang="en-US">
                <a:sym typeface="+mn-ea"/>
              </a:rPr>
              <a:t>消息，期间</a:t>
            </a:r>
            <a:r>
              <a:rPr lang="en-US" altLang="zh-CN">
                <a:sym typeface="+mn-ea"/>
              </a:rPr>
              <a:t>A35</a:t>
            </a:r>
            <a:r>
              <a:rPr lang="zh-CN" altLang="en-US">
                <a:sym typeface="+mn-ea"/>
              </a:rPr>
              <a:t>无故障告警信息，下一步由激光团队确认</a:t>
            </a:r>
            <a:r>
              <a:rPr lang="en-US" altLang="zh-CN">
                <a:sym typeface="+mn-ea"/>
              </a:rPr>
              <a:t>A15-A35</a:t>
            </a:r>
            <a:r>
              <a:rPr lang="zh-CN" altLang="en-US">
                <a:sym typeface="+mn-ea"/>
              </a:rPr>
              <a:t>的激光状态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[BizSecLabel=BQEwRDI5QTQzMjUyQTY0RjQ1QkY2RTFCNkJEMUY2Mzk3MDU1RDAyOUQzRTY5MjRCOEJBRDI3M0U3RkVDOUJCMzg0REVBNUNEQUZBNTRENDRCQkIyNkQyQkZFMTQzMUVFQkQ3YTdiNWI2Njk0YWMzYzUxODZjYmQ0NTcwM2JhYzJjNgAAAAAAAAAAAAAAAAAAAAAAAAAAAA==:MIIBUAIBAQIBBTAZGA8yMDI2MDMxODA5NTkyMFoSBjk5OTk5OQwO5p2O6KeC5paHfDI1MjcMAAwAMCoMKOS4reWbveWNq+aYn+e9kee7nOmbhuWbouaciemZkOWFrOWPuHwxNzgwMjEwMC4MKuS4reWbveWNq+aYn+e9kee7nOmbhuWbouaciemZkOWFrOWPuHwxNzh8MAwAMAUKAQAxAAQgAAAAAAAAAAAAAAAAAAAAAAAAAAAAAAAAAAAAAAAAAAAKAQEwADCBijAsAgEFAQH/BCQMIuadjuinguaWh3wyNTI3fDIwMjYtMDMtMTggMDk6NTk6MjAwLAIBBgEB/wQk5p2O57u05p2ofDU0MTV8MjAyNi0wOC0wMyAwODo1MDo0N3wxMCwCAQcBAf8EJOi1teS8n+eoi3wxNDIxfDIwMjYtMDctMTQgMTc6NTU6MDl8Mg==]</Template>
  <TotalTime>0</TotalTime>
  <Words>837</Words>
  <Application>WPS 演示</Application>
  <PresentationFormat>宽屏</PresentationFormat>
  <Paragraphs>40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华文细黑</vt:lpstr>
      <vt:lpstr>微软雅黑</vt:lpstr>
      <vt:lpstr>黑体</vt:lpstr>
      <vt:lpstr>宋体</vt:lpstr>
      <vt:lpstr>Arial Unicode MS</vt:lpstr>
      <vt:lpstr>方正书宋_GBK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</dc:creator>
  <cp:lastModifiedBy>杨蒙</cp:lastModifiedBy>
  <cp:revision>2462</cp:revision>
  <dcterms:created xsi:type="dcterms:W3CDTF">2026-07-22T01:57:42Z</dcterms:created>
  <dcterms:modified xsi:type="dcterms:W3CDTF">2026-07-22T01:57:42Z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2052-11.8.2.12380</vt:lpwstr>
  </property>
  <property fmtid="{D5CDD505-2E9C-101B-9397-08002B2CF9AE}" pid="3" name="ICV">
    <vt:lpwstr>16EBBA0EBBD66719B0725C6A87C0A38F</vt:lpwstr>
  </property>
</Properties>
</file>